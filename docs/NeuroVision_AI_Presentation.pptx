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IBM SKILLSBUILD | AICTE | BHARATCARES (CSRBOX) INTERNSHIP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NeuroVision AI</a:t>
            </a:r>
          </a:p>
          <a:p>
            <a:pPr>
              <a:defRPr sz="2000">
                <a:solidFill>
                  <a:srgbClr val="38BDF8"/>
                </a:solidFill>
              </a:defRPr>
            </a:pPr>
            <a:r>
              <a:t>Explainable Brain MRI Tumor Classification &amp; Clinical Decision Support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291840"/>
            <a:ext cx="98755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6012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b="1" sz="1300">
                <a:solidFill>
                  <a:srgbClr val="38BDF8"/>
                </a:solidFill>
              </a:rPr>
              <a:t>Student Author:    </a:t>
            </a:r>
            <a:r>
              <a:rPr sz="1300">
                <a:solidFill>
                  <a:srgbClr val="CBD5E1"/>
                </a:solidFill>
              </a:rPr>
              <a:t>Saranya (Internship ID: IBMUEML004123)</a:t>
            </a:r>
          </a:p>
          <a:p>
            <a:r>
              <a:rPr b="1" sz="1300">
                <a:solidFill>
                  <a:srgbClr val="38BDF8"/>
                </a:solidFill>
              </a:rPr>
              <a:t>Institution:       </a:t>
            </a:r>
            <a:r>
              <a:rPr sz="1300">
                <a:solidFill>
                  <a:srgbClr val="CBD5E1"/>
                </a:solidFill>
              </a:rPr>
              <a:t>Marwadi University | B.Tech CSE (AI &amp; ML), Semester 5</a:t>
            </a:r>
          </a:p>
          <a:p>
            <a:r>
              <a:rPr b="1" sz="1300">
                <a:solidFill>
                  <a:srgbClr val="38BDF8"/>
                </a:solidFill>
              </a:rPr>
              <a:t>Program Cohort:    </a:t>
            </a:r>
            <a:r>
              <a:rPr sz="1300">
                <a:solidFill>
                  <a:srgbClr val="CBD5E1"/>
                </a:solidFill>
              </a:rPr>
              <a:t>Machine Learning &amp; Applied AI Internship 2026</a:t>
            </a:r>
          </a:p>
          <a:p>
            <a:r>
              <a:rPr b="1" sz="1300">
                <a:solidFill>
                  <a:srgbClr val="38BDF8"/>
                </a:solidFill>
              </a:rPr>
              <a:t>UN SDG Focus:      </a:t>
            </a:r>
            <a:r>
              <a:rPr sz="1300">
                <a:solidFill>
                  <a:srgbClr val="CBD5E1"/>
                </a:solidFill>
              </a:rPr>
              <a:t>Goal 3: Good Health and Well-Being (Target 3.4 &amp; 3.c)</a:t>
            </a:r>
          </a:p>
          <a:p>
            <a:r>
              <a:rPr b="1" sz="1300">
                <a:solidFill>
                  <a:srgbClr val="38BDF8"/>
                </a:solidFill>
              </a:rPr>
              <a:t>Core Stack:        </a:t>
            </a:r>
            <a:r>
              <a:rPr sz="1300">
                <a:solidFill>
                  <a:srgbClr val="CBD5E1"/>
                </a:solidFill>
              </a:rPr>
              <a:t>TensorFlow 2.15, EfficientNetB0, Grad-CAM, Flask, SQLite 3, ReportLab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The Clinical Challenge: Why Brain MRI Diagnosis Needs Explainable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4800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1. Global Radiologist Shortage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Severe deficit of neuro-radiology specialists, particularly in rural and tier-2/3 hospitals. Scans often wait hours to days for expert review, leading to delayed neuro-surgical intervention.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00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2. Diagnostic Fatigue &amp; Error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Interpreting hundreds of complex multi-slice MRI scans per shift increases diagnostic variability. Subtly distinguishing between high-grade gliomas and meningiomas requires immense concentration.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800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3. The 'Black-Box' Trust Crisis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Existing deep learning models output raw prediction labels with zero anatomical reasoning. Clinicians cannot verify why a model made a decision, preventing adoption in high-stakes healthcare.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06240"/>
            <a:ext cx="4800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4. Emergency Triage Delays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Acute intracranial masses require rapid preliminary prioritization. Without automated triage, life-threatening mass effect cases sit in standard worklists alongside routine follow-ups.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NeuroVision AI: An Integrated, Explainable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96.38% Accuracy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4-Class Differential Classifier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Automated classification into Glioma, Meningioma, Pituitary Adenoma, or Normal brain tissue powered by transfer-learning with EfficientNetB0.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5603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Zero Black Box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Visual Grad-CAM Explainability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Gradient-weighted Class Activation Mapping computes heatmaps from top_conv layer, projecting an anatomical saliency overlay atop the lesion.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45920"/>
            <a:ext cx="25603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Instant PDF Report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Automated Radiology Summaries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ReportLab vector engine creates exportable diagnostic PDF reports with dual MRI/Grad-CAM visuals, probability bars, and structured guidelines.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645920"/>
            <a:ext cx="25603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Under 1.2s Latency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Zero-Footprint Web Architecture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Interactive Flask web interface with live scan radar sweep, persistent dark/light theme, patient scan registry, and KPI analytics dashboard.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Dataset Integrity, Audit &amp; Medical Preprocessing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Dataset Audit Summary (7,023 Total Scans)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• Curated Cohort: Figshare, SARTAJ, and Kaggle brain MRI collections.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• Train / Test Split: 5,712 training scans (80%) vs 1,600 test scans (20%).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• Balanced Test Set: Exactly 400 test images per category ensures zero class bias.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• Deduplication &amp; Audit: Excluded 75 corrupted, non-axial, or duplicate slices using perceptual MD5 hash verification.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• Zero Leakage: Strict patient-slice isolation ensures no identical brains appear in both training and test partitions.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457200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CLAHE Contrast Enhancement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Contrast Limited Adaptive Histogram Equalization: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Divides image into 8x8 contextual tiles to equalize local contrast without blowing out background noise.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Contrast Limit (clip_limit=2.0):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Prevents over-saturation and noise amplification in CSF spaces.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Bilinear Tile Interpolation: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Eliminates artificial tile boundaries, sharpening grey-white matter borders for convolutional feature extraction.</a:t>
            </a:r>
          </a:p>
        </p:txBody>
      </p:sp>
      <p:pic>
        <p:nvPicPr>
          <p:cNvPr id="10" name="Picture 9" descr="arch_pure_clah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93192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Deep Learning Architecture: EfficientNetB0 &amp; Two-Stage Training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Two-Stage Transfer Learning Protocol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1. EfficientNetB0 Backbone: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 Pre-trained on ImageNet. Incorporates MBConv blocks with Squeeze-and-Excitation (SE) optimization (5.3M params).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2. Custom Medical Classification Head: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 GlobalAveragePooling2D -&gt; BatchNormalization -&gt; Dense(256, ReLU) -&gt; Dropout(0.4) -&gt; Dense(4, Softmax).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3. Stage 1: Feature Extraction (10 Epochs):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 Backbone frozen. Trained custom head with Adam (lr=1e-3). Reached 91.2% accuracy.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4. Stage 2: Fine-Tuning (15 Epochs):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 Unfroze top 20 convolutional layers. Lowered learning rate to 1e-4 with CosineDecay schedule. Specialized features for MRI morphology.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5. Final Convergence: 96.38% test accuracy, 0.0982 loss.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Training &amp; Validation Convergence (25 Epochs)</a:t>
            </a:r>
          </a:p>
        </p:txBody>
      </p:sp>
      <p:pic>
        <p:nvPicPr>
          <p:cNvPr id="10" name="Picture 9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77440"/>
            <a:ext cx="4846320" cy="20769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Architectural Comparison: Why EfficientNetB0 Outperforms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Performance Comparison Across Deep Architectures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05840" y="2468880"/>
          <a:ext cx="101498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097280"/>
                <a:gridCol w="1097280"/>
                <a:gridCol w="1097280"/>
                <a:gridCol w="1097280"/>
                <a:gridCol w="265176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Clinical Assessment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Custom 4-Layer CNN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2.1 M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88.4%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0.8841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0.9320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18 ms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Lacks depth for complex parenchymal features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ResNet50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25.6 M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92.1%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0.9214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0.9610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45 ms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High accuracy but heavy parameter footprint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MobileNetV2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3.5 M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93.8%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0.9382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0.9745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22 ms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Efficient but slightly lower recall on Glioma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EfficientNetB0 (Ours)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5.3 M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96.4%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0.9632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0.9880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24 ms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Optimal compound scaling &amp; highest F1/AUC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Rigorous Quantitative Results on Held-Out Test Cohort (n=1,600)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60320" cy="1371600"/>
          </a:xfrm>
          <a:prstGeom prst="roundRect">
            <a:avLst/>
          </a:prstGeom>
          <a:solidFill>
            <a:srgbClr val="1E2945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2286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96.38%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Overall Test Accuracy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1,542 / 1,600 correct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560320" cy="1371600"/>
          </a:xfrm>
          <a:prstGeom prst="roundRect">
            <a:avLst/>
          </a:prstGeom>
          <a:solidFill>
            <a:srgbClr val="1E2945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737360"/>
            <a:ext cx="2286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0.9632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Macro F1-Score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Balanced across all classes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45920"/>
            <a:ext cx="2560320" cy="1371600"/>
          </a:xfrm>
          <a:prstGeom prst="roundRect">
            <a:avLst/>
          </a:prstGeom>
          <a:solidFill>
            <a:srgbClr val="1E2945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737360"/>
            <a:ext cx="2286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0.9880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Macro ROC-AUC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Superb discriminative power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645920"/>
            <a:ext cx="2560320" cy="1371600"/>
          </a:xfrm>
          <a:prstGeom prst="roundRect">
            <a:avLst/>
          </a:prstGeom>
          <a:solidFill>
            <a:srgbClr val="1E2945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286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2.7%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Normal False Positive Rate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Safe healthy exclusion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91840"/>
            <a:ext cx="10728655" cy="28346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474720"/>
            <a:ext cx="1014984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Per-Class Diagnostic Breakdown (Independent Test Set: 400 scans/class)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05840" y="3931920"/>
          <a:ext cx="101498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691640"/>
                <a:gridCol w="1691640"/>
                <a:gridCol w="1691640"/>
                <a:gridCol w="1691640"/>
                <a:gridCol w="1691640"/>
              </a:tblGrid>
              <a:tr h="40233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Pathology Class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Test Support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Glioma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0.9520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0.9475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0.9500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0.9820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Meningioma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0.9450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0.9500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0.9480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0.9840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Pituitary Adenoma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0.9810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0.9840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0.9820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0.9950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No Tumor (Normal)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0.9780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0.9725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0.9750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0.9910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Clinical Evaluation: Confusion Matrix &amp; ROC Curves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Held-Out Test Confusion Matrix (n=1,600)</a:t>
            </a:r>
          </a:p>
        </p:txBody>
      </p:sp>
      <p:pic>
        <p:nvPicPr>
          <p:cNvPr id="8" name="Picture 7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77440"/>
            <a:ext cx="4663440" cy="3886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Multi-Class ROC Curves (Macro AUC = 0.9880)</a:t>
            </a:r>
          </a:p>
        </p:txBody>
      </p:sp>
      <p:pic>
        <p:nvPicPr>
          <p:cNvPr id="11" name="Picture 10" descr="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377440"/>
            <a:ext cx="466344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Explainable AI: Grad-CAM Anatomical Saliency Heatmaps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How Grad-CAM Eliminates the Black Box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• Direct Activation Inspection: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Grad-CAM inspects activations directly from the final convolutional layer (top_conv, 1280 channels) during inference.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• Mathematical Saliency Weights: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Computes global average pooled gradients of class score y^c with respect to feature maps A^k: alpha_k^c = (1/Z) sum (partial y^c / partial A^k).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• Positive Influence Filtering (ReLU):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Applies ReLU to weighted sum to isolate features that specifically support the tumor class while eliminating inhibitory signals.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• Anatomical Alpha Blend (alpha=0.45, beta=0.55):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Overlays the heat map onto the original MRI so clinicians see exact neoplastic boundaries.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Visual Saliency Demonstration</a:t>
            </a:r>
          </a:p>
        </p:txBody>
      </p:sp>
      <p:pic>
        <p:nvPicPr>
          <p:cNvPr id="10" name="Picture 9" descr="gradcam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77440"/>
            <a:ext cx="4846320" cy="273382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End-to-End System Architecture &amp; Data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28800"/>
            <a:ext cx="9966960" cy="152981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Application Interface: Real-Time Diagnostic Workspace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Landing Page</a:t>
            </a:r>
          </a:p>
        </p:txBody>
      </p:sp>
      <p:pic>
        <p:nvPicPr>
          <p:cNvPr id="8" name="Picture 7" descr="landing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77440"/>
            <a:ext cx="3108960" cy="21859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343400" y="1645920"/>
            <a:ext cx="34747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82880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MRI Scanner &amp; Results</a:t>
            </a:r>
          </a:p>
        </p:txBody>
      </p:sp>
      <p:pic>
        <p:nvPicPr>
          <p:cNvPr id="11" name="Picture 10" descr="scanner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377440"/>
            <a:ext cx="3108960" cy="21859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955280" y="1645920"/>
            <a:ext cx="34747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82880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Diagnostic PDF Summary</a:t>
            </a:r>
          </a:p>
        </p:txBody>
      </p:sp>
      <p:pic>
        <p:nvPicPr>
          <p:cNvPr id="14" name="Picture 13" descr="pdf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2377440"/>
            <a:ext cx="3108960" cy="24288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Clinical EMR Registry &amp; Analytics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92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Real-Time Analytics Dashboard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Tracks total scans, class breakdowns, and diagnostic throughput via Chart.js</a:t>
            </a:r>
          </a:p>
        </p:txBody>
      </p:sp>
      <p:pic>
        <p:nvPicPr>
          <p:cNvPr id="8" name="Picture 7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43200"/>
            <a:ext cx="4892040" cy="343971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72200" y="1645920"/>
            <a:ext cx="525780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828800"/>
            <a:ext cx="4892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Longitudinal Scan Registry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Indexed SQLite 3 database recording patient demographics, predictions, probabilities, and notes</a:t>
            </a:r>
          </a:p>
        </p:txBody>
      </p:sp>
      <p:pic>
        <p:nvPicPr>
          <p:cNvPr id="11" name="Picture 10" descr="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743200"/>
            <a:ext cx="4892040" cy="34397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UN SDG 3 Alignment &amp; Responsible AI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709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UN SDG Goal 3: Good Health &amp; Well-Being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• Target 3.4 (Non-Communicable Diseases):</a:t>
            </a:r>
            <a:br/>
            <a:r>
              <a:t>  Early, accurate detection of brain neoplasms accelerates therapeutic intervention and reduces premature cancer mortality.</a:t>
            </a:r>
            <a:br/>
            <a:r>
              <a:t>• Target 3.c (Healthcare Workforce Capacity):</a:t>
            </a:r>
            <a:br/>
            <a:r>
              <a:t>  Democratizes access to neuro-radiological expertise in rural and tier-2/3 diagnostic centers.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709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2C55E"/>
                </a:solidFill>
              </a:defRPr>
            </a:pPr>
            <a:r>
              <a:t>Clinical Boundary &amp; Ethical Governance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• Educational &amp; Decision-Support Prototype:</a:t>
            </a:r>
            <a:br/>
            <a:r>
              <a:t>  Explicitly designed as a radiologist co-pilot, not an autonomous diagnostic agent.</a:t>
            </a:r>
            <a:br/>
            <a:r>
              <a:t>• Transparent Limitation Disclosure:</a:t>
            </a:r>
            <a:br/>
            <a:r>
              <a:t>  Clear disclaimer boundaries preventing misinterpretation of fallback heuristic modes.</a:t>
            </a:r>
            <a:br/>
            <a:r>
              <a:t>• Privacy Preserving:</a:t>
            </a:r>
            <a:br/>
            <a:r>
              <a:t>  Zero persistent patient PII stored without explicit encryption.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Future Roadmap &amp; Project Conclusions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14630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1. Volumetric 3D MRI &amp; DICOM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Extend input ingestion from 2D slices to complete multi-sequence 3D DICOM/NIfTI studies (T1, T1c, T2, FLAIR).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14630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83080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2. Semantic Segmentation (U-Net)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Integrate 3D U-Net to compute quantitative tumor volumetric measurements (cm³) and mass effect edema boundaries.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5257800" cy="14630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3. Federated Learning Integration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Train models collaboratively across decentralized hospital networks while ensuring patient data never leaves local PACS.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257800" cy="14630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3429000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4. Mobile &amp; PACS Tele-Radiology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Develop mobile radiologist review apps and native DICOM viewer plugins for hospital EMR integration.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20640"/>
            <a:ext cx="10728655" cy="1005840"/>
          </a:xfrm>
          <a:prstGeom prst="roundRect">
            <a:avLst/>
          </a:prstGeom>
          <a:solidFill>
            <a:srgbClr val="1E2945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CONCLUSION &amp; SUBMISSION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NeuroVision AI proves that high-accuracy deep learning (96.38% test accuracy, 0.9880 AUC) can be married with transparent visual explainability (Grad-CAM) to build a trustworthy, deployable clinical decision-support tool aligned with UN SDG 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