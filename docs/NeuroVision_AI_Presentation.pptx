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🧠 NEUROVISION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Calibri"/>
              </a:defRPr>
            </a:pPr>
            <a:r>
              <a:t>AI-Powered Brain Tumor Detection &amp; Diagnostic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8"/>
                </a:solidFill>
                <a:latin typeface="Calibri"/>
              </a:defRPr>
            </a:pPr>
            <a:r>
              <a:t>using Deep Learning (EfficientNetB0) with Grad-CAM XAI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017520"/>
            <a:ext cx="27432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Saranya (saranya230506)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8"/>
                </a:solidFill>
                <a:latin typeface="Calibri"/>
              </a:defRPr>
            </a:pPr>
            <a:r>
              <a:t>Department of Computer Science &amp; Engineering, Marwadi University | psaranya.126749@marwadiuniversity.ac.in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IBM SkillsBuild | AICTE BharatCares | Machine Learning &amp; Applied AI Internship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alibri"/>
              </a:defRPr>
            </a:pPr>
            <a:r>
              <a:t>UN Sustainable Development Goal 3: Good Health and Well-Being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CLINICAL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🏥  Brain tumors are among the most aggressive cancers globally — early detection is life-or-death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👨‍⚕️  Critical shortage of neuroradiologists: 1 per 100,000 in rural/semi-urban India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⏳  Diagnostic delays of 24–72 hours for outsourced tele-radiology readings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😰  Cognitive fatigue causes 10–25% diagnostic error rates in complex MRI studies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🔒  "Black-box" AI prevents clinical trust — doctors need to SEE why the AI decided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📋  Manual report writing adds 20–30 minutes per patient to radiologist workload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NeuroVision AI addresses all of these with explainable, production-grade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UN SDG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Primary: SDG 3 — Good Health &amp; Well-Being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Target 3.4: Reduce premature mortality from NCDs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Shortens diagnostic turnaround from days to seconds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Enables life-saving neurosurgical protocols immediately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Explainable AI builds clinical trust for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Calibri"/>
              </a:defRPr>
            </a:pPr>
            <a:r>
              <a:t>Secondary: SDG 9 — Industry &amp;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Target 9.5: Enhance scientific research &amp; innovation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Lightweight EfficientNetB0 runs on affordable hardware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Docker containerization for any hospital deployment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Open-source MIT licensed for academic reuse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LITERATURE SURVEY &amp; GAP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Traditional ML (2015-18)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SVM / 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~10K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00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Manual feature engineering, fragile to MRI variations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Early CNN (2019-21)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06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VGG-16 / VGG-19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138M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06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Massive parameters, slow inference, overfitting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ResNets (2021-23)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11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ResNet-50 / 101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118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25-44M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611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High memory, no explainable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10698480" cy="8229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NeuroVision AI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617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EfficientNetB0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17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5.3M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617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Compound scaling + Grad-CAM + PDF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1️⃣  Accurate Multi-Class Classifier — 4-class brain MRI classification (Glioma, Meningioma, Pituitary, Normal)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2️⃣  Explainable AI (XAI) — Real-time Grad-CAM saliency heatmaps for clinical transparency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3️⃣  Automated Clinical Reports — Hospital-grade PDF radiology reports via ReportLab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4️⃣  Full-Stack Web Application — Flask + Bootstrap 5.3 with dark/light mode, dashboard, history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5️⃣  Production Readiness — Docker, Gunicorn WSGI, REST API, automated test suite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DATASET &amp; CLAHE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7,200 Brain MRI Scans (Perfectly Balanced)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Training Set: 5,600 images (1,400 per class × 4 classes)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Testing Set: 1,600 images (400 per class × 4 classes)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Classes: Glioma | Meningioma | Pituitary | No Tumor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100% Class Balance — eliminates sampling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CLAHE Enhancement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Converts RGB → LAB color space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Applies adaptive histogram equalization on L channel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8×8 grid with contrast limit = 2.0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Sharpens tumor borders without amplifying noise</a:t>
            </a:r>
          </a:p>
        </p:txBody>
      </p:sp>
      <p:pic>
        <p:nvPicPr>
          <p:cNvPr id="9" name="Picture 8" descr="glioma_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256032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00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FF"/>
                </a:solidFill>
                <a:latin typeface="Calibri"/>
              </a:defRPr>
            </a:pPr>
            <a:r>
              <a:t>Glioma</a:t>
            </a:r>
          </a:p>
        </p:txBody>
      </p:sp>
      <p:pic>
        <p:nvPicPr>
          <p:cNvPr id="11" name="Picture 10" descr="meningioma_samp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114800"/>
            <a:ext cx="256032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66160" y="6400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FF"/>
                </a:solidFill>
                <a:latin typeface="Calibri"/>
              </a:defRPr>
            </a:pPr>
            <a:r>
              <a:t>Meningioma</a:t>
            </a:r>
          </a:p>
        </p:txBody>
      </p:sp>
      <p:pic>
        <p:nvPicPr>
          <p:cNvPr id="13" name="Picture 12" descr="pituitary_samp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14800"/>
            <a:ext cx="2560320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6400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FF"/>
                </a:solidFill>
                <a:latin typeface="Calibri"/>
              </a:defRPr>
            </a:pPr>
            <a:r>
              <a:t>Pituitary</a:t>
            </a:r>
          </a:p>
        </p:txBody>
      </p:sp>
      <p:pic>
        <p:nvPicPr>
          <p:cNvPr id="15" name="Picture 14" descr="notumor_samp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4114800"/>
            <a:ext cx="2560320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35440" y="6400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FF"/>
                </a:solidFill>
                <a:latin typeface="Calibri"/>
              </a:defRPr>
            </a:pPr>
            <a:r>
              <a:t>No Tumor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 (4-TIER)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TIER 1: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Bootstrap 5.3 • Glassmorphism UI • Chart.js Analytics • Dark/Light 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91440" cy="9144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Calibri"/>
              </a:defRPr>
            </a:pPr>
            <a:r>
              <a:t>TIER 2: APPLICATION &amp;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Flask 3.0 Routing • RESTful Endpoints • Error Interceptors • Gunicorn WSGI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91440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TIER 3: INFERENCE &amp; XAI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CLAHE Preprocessing • EfficientNetB0 CNN • Two-Stage Fine-Tuning • Grad-CAM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029200"/>
            <a:ext cx="91440" cy="914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t>TIER 4: PERSISTENCE &amp;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SQLite 3 Database • Indexed Queries • ReportLab PDF Engine • Static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EfficientNetB0 + TWO-STAGE TRANSFER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Calibri"/>
              </a:defRPr>
            </a:pPr>
            <a:r>
              <a:t>Why EfficientNetB0?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Compound scaling: balances depth, width, resolution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Only 5.3M parameters (vs VGG's 138M)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ImageNet pre-trained — superior feature extraction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Inference latency &lt; 150ms on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Two-Stage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Phase 1: Feature Extraction (10 Epochs)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Backbone frozen (ImageNet weights preserved)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Train only custom head: GAP → BN → Dense(256) → Softmax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Learning rate: η = 1e-3 (Adam optimizer)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Phase 2: Fine-Tuning (15 Epochs)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Unfreeze top 30 backbone layers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BatchNorm layers stay frozen (preserve statistics)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Learning rate: η = 1e-4 → 1e-6 (ReduceLROnPlateau)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EXPLAINABLE AI: GRAD-CAM HEATMAPS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Gradient-weighted Class Activation Mapping visualizes WHERE the AI is looking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Step 1: Compute gradients ∂yᶜ/∂Aᵏ at final conv layer (top_conv, 1280 filters)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Step 2: Global average pool gradients → neuron importance weights αₖᶜ = (1/Z) Σᵢ Σⱼ ∂yᶜ/∂Aᵢⱼᵏ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Step 3: Weighted combination + ReLU → L_GradCAM = ReLU(Σₖ αₖᶜ · Aᵏ)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Step 4: Upscale to input resolution → JET colormap overlay on original MRI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🔴 Red/Warm = High activation (tumor region driving the decision)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🔵 Blue/Cool = Minimal activation (healthy tissue correctly ignored)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Clinical Value: Radiologists verify the AI focused on the tumor, NOT artifacts or skull edges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FULL-STACK WEB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🏠  Landing Page — Hero section, live KPI counters, 1-click benchmarks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🔬  MRI Scanner — Drag-drop upload, radar sweep animation, CLAHE + inference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📊  Dashboard — Chart.js class distributions, confidence averages, throughput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📋  Patient History — Searchable registry, pathology filters, PDF export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📄  Report View — In-browser diagnostic report with dual-image layout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🌙  Theme System — Obsidian Dark / Day Light mode with localStorage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REST API Endpoints: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/api/predict — Upload MRI, returns diagnosis + probabilities + Grad-CAM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/api/sample/&lt;type&gt; — 1-click reference testing (glioma, meningioma, pituitary, notumor)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GET  /api/history — Patient scan history (supports ?q= and ?class= filters)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GET  /api/stats — Aggregate counts, class distributions, confidence averages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GET  /api/health — Docker healthcheck endpoint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EVALUATION RESULTS (N=1,600 TEST SCANS)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Overall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676"/>
                </a:solidFill>
                <a:latin typeface="Calibri"/>
              </a:defRPr>
            </a:pPr>
            <a:r>
              <a:t>96.38%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Macro F1-Score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0.963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Macro AUC-ROC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  <a:latin typeface="Calibri"/>
              </a:defRPr>
            </a:pPr>
            <a:r>
              <a:t>0.988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Inference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Calibri"/>
              </a:defRPr>
            </a:pPr>
            <a:r>
              <a:t>&lt;150ms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F1-Score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00400"/>
            <a:ext cx="73152" cy="36576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Glioma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0.982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749039"/>
            <a:ext cx="73152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Meningioma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297680"/>
            <a:ext cx="73152" cy="36576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Pituitary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0.995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846320"/>
            <a:ext cx="73152" cy="365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 Tumor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0.978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0.991</a:t>
            </a:r>
          </a:p>
        </p:txBody>
      </p:sp>
      <p:pic>
        <p:nvPicPr>
          <p:cNvPr id="42" name="Picture 41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303520"/>
            <a:ext cx="3200400" cy="2667000"/>
          </a:xfrm>
          <a:prstGeom prst="rect">
            <a:avLst/>
          </a:prstGeom>
        </p:spPr>
      </p:pic>
      <p:pic>
        <p:nvPicPr>
          <p:cNvPr id="43" name="Picture 42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5303520"/>
            <a:ext cx="32004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TRAINING CURVES &amp;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39188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29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• Phase 1 (Epochs 1-10): Frozen backbone — rapid feature extraction training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• Phase 2 (Epochs 11-25): Top-30 layers unfrozen — targeted fine-tuning with reduced LR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• Convergence: Train/Val accuracy gap &lt; 2% — minimal overfitting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• ReduceLROnPlateau: Automatic learning rate decay from 1e-4 → 1e-6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AUTOMATED PDF REPORTS &amp; DOCKER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📄 ReportLab PDF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Hospital letterhead with unique Report ID (NV-REP-XXXXX)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Full patient demographics &amp; clinical history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Side-by-side: Original MRI + Grad-CAM saliency map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Complete 4-class differential probability table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Radiological findings &amp; recommended clinical protocols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Digital authentication seal &amp; radiologist sign-off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🐳 Docker Containerization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Python 3.11-slim base image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OpenCV &amp; ReportLab system deps pre-installed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Gunicorn WSGI server (2 workers, 2 threads)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Health check: curl /api/health every 30s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docker-compose.yml for 1-command deployment</a:t>
            </a:r>
          </a:p>
          <a:p>
            <a:pPr>
              <a:spcAft>
                <a:spcPts val="6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Volume mounts for persistent database &amp; uploads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ETHICAL CONSIDERATIONS &amp; MEDICAL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🧑‍⚕️  Human-in-the-Loop — AI is an adjunct CDSS, NOT a replacement for radiologists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📋  Digital disclaimers require validation by certified medical radiologist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🔒  HIPAA/GDPR Compliance — Local SQLite storage, no data egress outside host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🔐  UUID v4 file sanitization prevents path traversal attacks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📦  16 MB payload ceiling protects against denial-of-service uploads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⚖️  Balanced dataset (1,400 per class) eliminates demographic sampling bias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🧪  CLAHE normalization removes scanner-specific signal biases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📊  Automated test suite (5 modules) validates all critical pathways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What We Built: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✅  Production-grade brain tumor detection: 96.4% accuracy, AUC 0.988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✅  Explainable AI (Grad-CAM) solving the black-box trust barrier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✅  Automated hospital-grade PDF diagnostic reports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✅  Full-stack Flask web app with dark/light mode, dashboard, patient history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✅  Docker-ready, REST API, automated tests — production deployable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Future Roadmap: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🔮  3D Multi-Planar Volumetric Reconstruction (3D U-Net on T1-CE, T2-FLAIR)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🏥  DICOM PACS Integration (C-STORE, C-FIND network protocol adapters)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🌐  Federated Learning — Multi-hospital decentralized training with data privacy</a:t>
            </a:r>
          </a:p>
          <a:p>
            <a:pPr>
              <a:spcAft>
                <a:spcPts val="600"/>
              </a:spcAft>
              <a:defRPr sz="1600">
                <a:solidFill>
                  <a:srgbClr val="B0B8C8"/>
                </a:solidFill>
                <a:latin typeface="Calibri"/>
              </a:defRPr>
            </a:pPr>
            <a:r>
              <a:t>📱  Mobile-optimized progressive web app for point-of-care diagnostics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5943600"/>
            <a:ext cx="64008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Thank You  |  Saranya (saranya230506)  |  Marwadi University  |  IBM SkillsBuild × AICTE BharatCares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